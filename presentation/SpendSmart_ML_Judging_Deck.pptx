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Personalized model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Food</c:v>
                  </c:pt>
                  <c:pt idx="1">
                    <c:v>Groceries</c:v>
                  </c:pt>
                  <c:pt idx="2">
                    <c:v>Transport</c:v>
                  </c:pt>
                  <c:pt idx="3">
                    <c:v>Shopping</c:v>
                  </c:pt>
                  <c:pt idx="4">
                    <c:v>Entertain.</c:v>
                  </c:pt>
                  <c:pt idx="5">
                    <c:v>Healthcare</c:v>
                  </c:pt>
                  <c:pt idx="6">
                    <c:v>Utilities</c:v>
                  </c:pt>
                  <c:pt idx="7">
                    <c:v>Housing</c:v>
                  </c:pt>
                  <c:pt idx="8">
                    <c:v>Subscript.</c:v>
                  </c:pt>
                  <c:pt idx="9">
                    <c:v>Financial</c:v>
                  </c:pt>
                  <c:pt idx="10">
                    <c:v>Misc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684.33</c:v>
                </c:pt>
                <c:pt idx="1">
                  <c:v>611.82</c:v>
                </c:pt>
                <c:pt idx="2">
                  <c:v>468.92</c:v>
                </c:pt>
                <c:pt idx="3">
                  <c:v>855.11</c:v>
                </c:pt>
                <c:pt idx="4">
                  <c:v>657.05</c:v>
                </c:pt>
                <c:pt idx="5">
                  <c:v>434.46</c:v>
                </c:pt>
                <c:pt idx="6">
                  <c:v>51.75</c:v>
                </c:pt>
                <c:pt idx="7">
                  <c:v>98.01</c:v>
                </c:pt>
                <c:pt idx="8">
                  <c:v>1204.81</c:v>
                </c:pt>
                <c:pt idx="9">
                  <c:v>427.31</c:v>
                </c:pt>
                <c:pt idx="10">
                  <c:v>348.11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Naive (last month)</c:v>
                </c:pt>
              </c:strCache>
            </c:strRef>
          </c:tx>
          <c:spPr>
            <a:solidFill>
              <a:srgbClr val="C7CCD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Food</c:v>
                  </c:pt>
                  <c:pt idx="1">
                    <c:v>Groceries</c:v>
                  </c:pt>
                  <c:pt idx="2">
                    <c:v>Transport</c:v>
                  </c:pt>
                  <c:pt idx="3">
                    <c:v>Shopping</c:v>
                  </c:pt>
                  <c:pt idx="4">
                    <c:v>Entertain.</c:v>
                  </c:pt>
                  <c:pt idx="5">
                    <c:v>Healthcare</c:v>
                  </c:pt>
                  <c:pt idx="6">
                    <c:v>Utilities</c:v>
                  </c:pt>
                  <c:pt idx="7">
                    <c:v>Housing</c:v>
                  </c:pt>
                  <c:pt idx="8">
                    <c:v>Subscript.</c:v>
                  </c:pt>
                  <c:pt idx="9">
                    <c:v>Financial</c:v>
                  </c:pt>
                  <c:pt idx="10">
                    <c:v>Misc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995.1</c:v>
                </c:pt>
                <c:pt idx="1">
                  <c:v>732.83</c:v>
                </c:pt>
                <c:pt idx="2">
                  <c:v>578.13</c:v>
                </c:pt>
                <c:pt idx="3">
                  <c:v>1411.03</c:v>
                </c:pt>
                <c:pt idx="4">
                  <c:v>1150.55</c:v>
                </c:pt>
                <c:pt idx="5">
                  <c:v>524.91</c:v>
                </c:pt>
                <c:pt idx="6">
                  <c:v>57.02</c:v>
                </c:pt>
                <c:pt idx="7">
                  <c:v>103.65</c:v>
                </c:pt>
                <c:pt idx="8">
                  <c:v>1541.43</c:v>
                </c:pt>
                <c:pt idx="9">
                  <c:v>521.75</c:v>
                </c:pt>
                <c:pt idx="10">
                  <c:v>430.58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A556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4A5568"/>
                    </a:solidFill>
                    <a:latin typeface="Arial"/>
                  </a:rPr>
                  <a:t>MAE (₹)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4A556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2ED9A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Personalized model</c:v>
                  </c:pt>
                  <c:pt idx="1">
                    <c:v>Naive baseline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0.5229</c:v>
                </c:pt>
                <c:pt idx="1">
                  <c:v>0.4034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5"/>
          <c:min val="0"/>
        </c:scaling>
        <c:delete val="0"/>
        <c:axPos val="b"/>
        <c:majorGridlines>
          <c:spPr>
            <a:ln w="9525" cap="flat">
              <a:solidFill>
                <a:srgbClr val="2E3A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761"/>
        </a:solidFill>
        <a:ln>
          <a:noFill/>
        </a:ln>
        <a:effectLst/>
      </c:spPr>
    </c:plotArea>
    <c:plotVisOnly val="1"/>
    <c:dispBlanksAs val="span"/>
  </c:chart>
  <c:spPr>
    <a:solidFill>
      <a:srgbClr val="1E276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754880"/>
            <a:ext cx="2926080" cy="29260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SPENDSMART · ML RESEARCH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8778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Spending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Engine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machine-learning model that learns each user's own financial baseline — and proves its accuracy against naive baselines, not assertions.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983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27.3%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5532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skill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naive baseline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37560" y="4983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37560" y="5532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cohorts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52160" y="4983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660K+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852160" y="5532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judging panel review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A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advice doesn't change behavior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finance apps give every user the same rule of thumb. Ours is conditioned on the individual — three different layers of "you," not "everyone."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212080" cy="3840480"/>
          </a:xfrm>
          <a:prstGeom prst="roundRect">
            <a:avLst>
              <a:gd name="adj" fmla="val 2857"/>
            </a:avLst>
          </a:prstGeom>
          <a:solidFill>
            <a:srgbClr val="F0F1F5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2560320"/>
            <a:ext cx="640080" cy="640080"/>
          </a:xfrm>
          <a:prstGeom prst="ellipse">
            <a:avLst/>
          </a:prstGeom>
          <a:solidFill>
            <a:srgbClr val="D9DCE6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87452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RECOMMENDATION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7452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3741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“Spend less on coffee.”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3657600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message for every user, every income level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link to the user's own habits or goals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whether the category is even a problem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ignore — feels like a form letter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2148840"/>
            <a:ext cx="5577840" cy="3840480"/>
          </a:xfrm>
          <a:prstGeom prst="roundRect">
            <a:avLst>
              <a:gd name="adj" fmla="val 2857"/>
            </a:avLst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6537960" y="2560320"/>
            <a:ext cx="640080" cy="640080"/>
          </a:xfrm>
          <a:prstGeom prst="ellipse">
            <a:avLst/>
          </a:prstGeom>
          <a:solidFill>
            <a:srgbClr val="2ED9A3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360920" y="2560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SPENDSMART-ML RECOMMENDATION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60920" y="285292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“Food &amp; Dining is 26% of your spend vs. 19% for users like you — saving ~₹1,440/mo.”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0" y="3977640"/>
            <a:ext cx="4572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to this user's own 6-month baseline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against their financial “cohort”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in real money, ranked by impact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in real time as new transactions land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SpendSmart-ML  |  Personalized Spending Recommendation Engine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A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technology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CPU-only Python stack — trains in minutes locally or on a free Google Colab runtime.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06040" cy="379476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1568196" y="241401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568196" y="24140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Data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3794760"/>
            <a:ext cx="21488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2103120"/>
            <a:ext cx="2606040" cy="379476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4402836" y="2414016"/>
            <a:ext cx="566928" cy="566928"/>
          </a:xfrm>
          <a:prstGeom prst="ellipse">
            <a:avLst/>
          </a:prstGeom>
          <a:solidFill>
            <a:srgbClr val="1FA97D"/>
          </a:solidFill>
          <a:ln/>
        </p:spPr>
      </p:sp>
      <p:sp>
        <p:nvSpPr>
          <p:cNvPr id="12" name="Text 10"/>
          <p:cNvSpPr/>
          <p:nvPr/>
        </p:nvSpPr>
        <p:spPr>
          <a:xfrm>
            <a:off x="4402836" y="24140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20440" y="31546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(scikit-learn)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39312" y="3794760"/>
            <a:ext cx="21488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Logistic Regression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HistGradientBoostingRegressor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clustering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2103120"/>
            <a:ext cx="2606040" cy="379476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/>
        </p:spPr>
      </p:sp>
      <p:sp>
        <p:nvSpPr>
          <p:cNvPr id="16" name="Shape 14"/>
          <p:cNvSpPr/>
          <p:nvPr/>
        </p:nvSpPr>
        <p:spPr>
          <a:xfrm>
            <a:off x="7237476" y="241401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237476" y="24140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55080" y="31546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Ops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73952" y="3794760"/>
            <a:ext cx="21488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benchmarking harness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 model persistence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smoke tests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52560" y="2103120"/>
            <a:ext cx="2606040" cy="3794760"/>
          </a:xfrm>
          <a:prstGeom prst="roundRect">
            <a:avLst>
              <a:gd name="adj" fmla="val 3509"/>
            </a:avLst>
          </a:prstGeom>
          <a:solidFill>
            <a:srgbClr val="F4F6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072116" y="2414016"/>
            <a:ext cx="566928" cy="566928"/>
          </a:xfrm>
          <a:prstGeom prst="ellipse">
            <a:avLst/>
          </a:prstGeom>
          <a:solidFill>
            <a:srgbClr val="1FA97D"/>
          </a:solidFill>
          <a:ln/>
        </p:spPr>
      </p:sp>
      <p:sp>
        <p:nvSpPr>
          <p:cNvPr id="22" name="Text 20"/>
          <p:cNvSpPr/>
          <p:nvPr/>
        </p:nvSpPr>
        <p:spPr>
          <a:xfrm>
            <a:off x="10072116" y="24140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89720" y="31546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08592" y="3794760"/>
            <a:ext cx="21488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notebook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reporting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repo (decoupled)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SpendSmart-ML  |  Personalized Spending Recommendation Engine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A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STRATEGY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training data + a researched real-data catalog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709160"/>
          </a:xfrm>
          <a:prstGeom prst="roundRect">
            <a:avLst>
              <a:gd name="adj" fmla="val 2330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982980" y="1943100"/>
            <a:ext cx="594360" cy="594360"/>
          </a:xfrm>
          <a:prstGeom prst="ellipse">
            <a:avLst/>
          </a:prstGeom>
          <a:solidFill>
            <a:srgbClr val="2ED9A3"/>
          </a:solidFill>
          <a:ln/>
        </p:spPr>
      </p:sp>
      <p:sp>
        <p:nvSpPr>
          <p:cNvPr id="6" name="Text 4"/>
          <p:cNvSpPr/>
          <p:nvPr/>
        </p:nvSpPr>
        <p:spPr>
          <a:xfrm>
            <a:off x="982980" y="19431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E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PERSONA-BASED SYNTHETIC GENERATOR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personas (student, family, saver, high-spender, retiree, young professional) each with distinct category weights, income range, and savings behavior.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40965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3657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200400" y="40965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history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709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660K+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14400" y="51480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4709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200400" y="51480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56235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synthetic first: real per-user, multi-month spending panels are rare in public data — this guarantees personalization signal to learn from.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63640" y="1691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DATASETS RESEARCHED (WIRED UP, OPTIONAL)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057400"/>
          <a:ext cx="5349240" cy="3200400"/>
        </p:xfrm>
        <a:graphic>
          <a:graphicData uri="http://schemas.openxmlformats.org/drawingml/2006/table">
            <a:tbl>
              <a:tblPr/>
              <a:tblGrid>
                <a:gridCol w="2148840"/>
                <a:gridCol w="1234440"/>
                <a:gridCol w="1188720"/>
                <a:gridCol w="128016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Categorization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HuggingFace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~4.5M rows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Finance Tracker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~3K users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 terms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Card Transactions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~1.85M rows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 terms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 Classification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 terms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Transactions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 terms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263640" y="544068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Category-taxonomy normalizer maps every external label (e.g. “Food &amp; Dining”) into one consistent 12-category schema.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SpendSmart-ML  |  Personalized Spending Recommendation Engine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A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five-stage personalization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3957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880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33375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category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(TF-IDF + LR)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4096512"/>
            <a:ext cx="169164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160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/ F1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14600" y="32004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70632" y="228600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1FA97D"/>
          </a:solidFill>
          <a:ln/>
        </p:spPr>
      </p:sp>
      <p:sp>
        <p:nvSpPr>
          <p:cNvPr id="12" name="Text 10"/>
          <p:cNvSpPr/>
          <p:nvPr/>
        </p:nvSpPr>
        <p:spPr>
          <a:xfrm>
            <a:off x="2907792" y="23957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907792" y="2880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Builder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07792" y="33375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monthly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panel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07792" y="4096512"/>
            <a:ext cx="169164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07792" y="4160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F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14,400 rows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36592" y="32004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92624" y="228600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129784" y="23957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129784" y="2880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29784" y="33375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“Users like you”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cohorts (KMeans)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29784" y="4096512"/>
            <a:ext cx="169164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9784" y="4160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58584" y="32004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214616" y="228600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1FA97D"/>
          </a:solidFill>
          <a:ln/>
        </p:spPr>
      </p:sp>
      <p:sp>
        <p:nvSpPr>
          <p:cNvPr id="26" name="Text 24"/>
          <p:cNvSpPr/>
          <p:nvPr/>
        </p:nvSpPr>
        <p:spPr>
          <a:xfrm>
            <a:off x="7351776" y="23957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51776" y="2880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Forecaster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351776" y="33375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next-month spend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51776" y="4096512"/>
            <a:ext cx="169164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51776" y="4160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F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vs. naive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80576" y="32004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436608" y="228600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9573768" y="23957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9573768" y="28803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573768" y="33375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Ranked, priced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+ optimizer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573768" y="4096512"/>
            <a:ext cx="169164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73768" y="41605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F1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4800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reports a metric benchmarked against a naive baseline — the comparison is what makes the accuracy proven, not asserted.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548640" y="544068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5504688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baseline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31520" y="58064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fire only when YOU deviate from YOUR normal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206240" y="544068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43" name="Text 41"/>
          <p:cNvSpPr/>
          <p:nvPr/>
        </p:nvSpPr>
        <p:spPr>
          <a:xfrm>
            <a:off x="4389120" y="5504688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context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389120" y="58064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comparisons use financially similar users, not everyone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863840" y="544068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46" name="Text 44"/>
          <p:cNvSpPr/>
          <p:nvPr/>
        </p:nvSpPr>
        <p:spPr>
          <a:xfrm>
            <a:off x="8046720" y="5504688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layer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8046720" y="58064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O(categories) updates as transactions land — no retrain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SpendSmart-ML  |  Personalized Spending Recommendation Engine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A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&amp;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Categorization + “users like you” segmentation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4434840"/>
          </a:xfrm>
          <a:prstGeom prst="roundRect">
            <a:avLst>
              <a:gd name="adj" fmla="val 2474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982980" y="19888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82980" y="19888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7360" y="202996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CATEGORIZER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(word + character n-grams) feeding a balanced Logistic Regression — robust to merchant spelling noise like “PAYTM*Swiggy”.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611880"/>
            <a:ext cx="46634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7307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097280" y="42793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/</a:t>
            </a:r>
            <a:endParaRPr lang="en-US" sz="10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0" y="37947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out 20% of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transactions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testing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48920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expense categories mapped from raw merchant text — the foundation every downstream stage reads.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645920"/>
            <a:ext cx="5440680" cy="4434840"/>
          </a:xfrm>
          <a:prstGeom prst="roundRect">
            <a:avLst>
              <a:gd name="adj" fmla="val 2474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606540" y="1988820"/>
            <a:ext cx="594360" cy="594360"/>
          </a:xfrm>
          <a:prstGeom prst="ellipse">
            <a:avLst/>
          </a:prstGeom>
          <a:solidFill>
            <a:srgbClr val="1FA97D"/>
          </a:solidFill>
          <a:ln/>
        </p:spPr>
      </p:sp>
      <p:sp>
        <p:nvSpPr>
          <p:cNvPr id="16" name="Text 14"/>
          <p:cNvSpPr/>
          <p:nvPr/>
        </p:nvSpPr>
        <p:spPr>
          <a:xfrm>
            <a:off x="6606540" y="19888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⌘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360920" y="202996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SEGMENTATION (COHORTS)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2743200"/>
            <a:ext cx="5257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over standardized profiles: income, savings rate, volatility, spend trend, and category shares — clusters financially similar users.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61188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1FA97D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37307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446520" y="4279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138160" y="37307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0.38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138160" y="4279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63640" y="4892040"/>
            <a:ext cx="5257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category-share medians become the peer benchmark every recommendation is compared against — never a global average.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SpendSmart-ML  |  Personalized Spending Recommendation Engine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A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forecasting engine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HistGradientBoostingRegressor per category. The dominant signal is the user's OWN lagged spend — predictions are conditioned on that individual's history.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F4F6F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4767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model MAE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63240" y="187452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194767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A93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46120" y="2514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naive MAE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187452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0" y="194767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A9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+27.3%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760720" y="2514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vs. naive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38160" y="19659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Backtested with a strict time-based split: models train on past months only, predict held-out recent months — no leakage.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063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error (MAE, ₹/month) by category — lower is better</a:t>
            </a:r>
            <a:endParaRPr lang="en-US" sz="12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02920" y="3337560"/>
          <a:ext cx="1115568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SpendSmart-ML  |  Personalized Spending Recommendation Engine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A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engine + real-time optimization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76656" y="1700784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7007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62763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detection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947672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 category only when forecast exceeds the user's own baseline mean + 0.75σ — statistically grounded, not a fixed % rule.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76656" y="275234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27523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67919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benchmarking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999232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category share against the user's cohort median (from Model 2) — fair comparisons, not a global average.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" y="3803904"/>
            <a:ext cx="566928" cy="566928"/>
          </a:xfrm>
          <a:prstGeom prst="ellipse">
            <a:avLst/>
          </a:prstGeom>
          <a:solidFill>
            <a:srgbClr val="1FA97D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" y="38039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373075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Subscription-creep detector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4050792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recurring charges rising &gt;25% vs. 3 months ago — catches silent subscription bloat.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" y="485546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" y="48554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7823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Savings-goal optimizer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5102352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water-filling reallocation bounded by the user's OWN category volatility — minimal lifestyle disruption to hit a target.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46520" y="1600200"/>
            <a:ext cx="5166360" cy="4526280"/>
          </a:xfrm>
          <a:prstGeom prst="roundRect">
            <a:avLst>
              <a:gd name="adj" fmla="val 2424"/>
            </a:avLst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6926580" y="1988820"/>
            <a:ext cx="594360" cy="594360"/>
          </a:xfrm>
          <a:prstGeom prst="ellipse">
            <a:avLst/>
          </a:prstGeom>
          <a:solidFill>
            <a:srgbClr val="2ED9A3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9888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680960" y="20299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2E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OPTIMIZATION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66560" y="274320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RealTimeState keeps rolling per-category aggregates. Each new transaction updates projections in O(categories) — the batch models supply the learned parameters, the online layer applies them instantly.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12280" y="4032504"/>
            <a:ext cx="128016" cy="128016"/>
          </a:xfrm>
          <a:prstGeom prst="ellipse">
            <a:avLst/>
          </a:prstGeom>
          <a:solidFill>
            <a:srgbClr val="2ED9A3"/>
          </a:solidFill>
          <a:ln/>
        </p:spPr>
      </p:sp>
      <p:sp>
        <p:nvSpPr>
          <p:cNvPr id="26" name="Text 24"/>
          <p:cNvSpPr/>
          <p:nvPr/>
        </p:nvSpPr>
        <p:spPr>
          <a:xfrm>
            <a:off x="7086600" y="39044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39044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Dining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92640" y="39044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12280" y="4416552"/>
            <a:ext cx="128016" cy="128016"/>
          </a:xfrm>
          <a:prstGeom prst="ellipse">
            <a:avLst/>
          </a:prstGeom>
          <a:solidFill>
            <a:srgbClr val="2ED9A3"/>
          </a:solidFill>
          <a:ln/>
        </p:spPr>
      </p:sp>
      <p:sp>
        <p:nvSpPr>
          <p:cNvPr id="30" name="Text 28"/>
          <p:cNvSpPr/>
          <p:nvPr/>
        </p:nvSpPr>
        <p:spPr>
          <a:xfrm>
            <a:off x="7086600" y="428853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909560" y="42885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Dining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92640" y="428853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rising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812280" y="4800600"/>
            <a:ext cx="128016" cy="128016"/>
          </a:xfrm>
          <a:prstGeom prst="ellipse">
            <a:avLst/>
          </a:prstGeom>
          <a:solidFill>
            <a:srgbClr val="2ED9A3"/>
          </a:solidFill>
          <a:ln/>
        </p:spPr>
      </p:sp>
      <p:sp>
        <p:nvSpPr>
          <p:cNvPr id="34" name="Text 32"/>
          <p:cNvSpPr/>
          <p:nvPr/>
        </p:nvSpPr>
        <p:spPr>
          <a:xfrm>
            <a:off x="7086600" y="467258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09560" y="46725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692640" y="467258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812280" y="5184648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8" name="Text 36"/>
          <p:cNvSpPr/>
          <p:nvPr/>
        </p:nvSpPr>
        <p:spPr>
          <a:xfrm>
            <a:off x="7086600" y="50566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909560" y="50566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Dining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692640" y="50566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alert fires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766560" y="5623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retrain required — alerts fire from a live projection of month-end spend.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SpendSmart-ML  |  Personalized Spending Recommendation Engine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PROVEN, NOT ASSERTED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benchmarked against naive baselines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141B4D"/>
          </a:solidFill>
          <a:ln w="12700">
            <a:solidFill>
              <a:srgbClr val="2E3A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+27.3%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4505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skill vs. naive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532 vs. 731 (₹/mo)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6002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141B4D"/>
          </a:solidFill>
          <a:ln w="12700">
            <a:solidFill>
              <a:srgbClr val="2E3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20440" y="24505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Overspend-detector F1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044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0.40 naive baseline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6002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141B4D"/>
          </a:solidFill>
          <a:ln w="12700">
            <a:solidFill>
              <a:srgbClr val="2E3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09360" y="24505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Categorizer accuracy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split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15400" y="16002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141B4D"/>
          </a:solidFill>
          <a:ln w="12700">
            <a:solidFill>
              <a:srgbClr val="2E3A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0.38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098280" y="24505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silhouette score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09828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clusters, well separated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quality: overspend-alert F1</a:t>
            </a:r>
            <a:endParaRPr lang="en-US" sz="13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502920" y="4023360"/>
          <a:ext cx="539496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6263640" y="3703320"/>
            <a:ext cx="5349240" cy="2743200"/>
          </a:xfrm>
          <a:prstGeom prst="roundRect">
            <a:avLst>
              <a:gd name="adj" fmla="val 4000"/>
            </a:avLst>
          </a:prstGeom>
          <a:solidFill>
            <a:srgbClr val="141B4D"/>
          </a:solidFill>
          <a:ln w="12700">
            <a:solidFill>
              <a:srgbClr val="2E3A7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37960" y="38862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“beats naive” matters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537960" y="4297680"/>
            <a:ext cx="48463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= “predict the same as last month” — a strong, honest baseline for spending data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still cuts error by over a quarter across categories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with a time-based split — train on the past, test on the future, exactly like production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headline number here has a losing competitor next to it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SpendSmart-ML  |  Personalized Spending Recommendation Engine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A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OUTPUT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recommendation, generated by the trained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#0 · 18 months of history · income ≈ ₹23,896/mo · projected savings rate 10.2%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835640" cy="1234440"/>
          </a:xfrm>
          <a:prstGeom prst="roundRect">
            <a:avLst>
              <a:gd name="adj" fmla="val 7407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4884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377440" y="20756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to hit a 25% savings goal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377440" y="24688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Food &amp; Dining, Entertainment, Shopping, Subscriptions and Misc recovers ₹3,471/mo toward the goal.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0" y="21305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₹3,471/mo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503920" y="25877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90%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10835640" cy="1234440"/>
          </a:xfrm>
          <a:prstGeom prst="roundRect">
            <a:avLst>
              <a:gd name="adj" fmla="val 7407"/>
            </a:avLst>
          </a:prstGeom>
          <a:solidFill>
            <a:srgbClr val="F4F6FC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56616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1FA97D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661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377440" y="349300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Dining is high for users like you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2377440" y="388620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 of spend here vs. 19% for this user's cohort. Aligning frees up budget.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03920" y="35478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FA9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₹1,430/mo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03920" y="40050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70%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800600"/>
            <a:ext cx="10835640" cy="1234440"/>
          </a:xfrm>
          <a:prstGeom prst="roundRect">
            <a:avLst>
              <a:gd name="adj" fmla="val 7407"/>
            </a:avLst>
          </a:prstGeom>
          <a:solidFill>
            <a:srgbClr val="F4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98348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983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OVERSPEND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377440" y="49103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Dining trending above usual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2377440" y="53035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spend exceeds this user's own 6-month baseline by 1.2σ.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0" y="49651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₹832/mo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503920" y="54223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39%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263640"/>
            <a:ext cx="10835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priority = monthly impact × confidence — the top actionable items surface first, exactly as a user would see them in-app.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SpendSmart-ML  |  Personalized Spending Recommendation Engine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A9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PANEL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talking points &amp; anticipated questions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62940" y="17602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62940" y="17602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64592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is this different from a rules engine?”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01168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threshold is derived from the user's own trailing mean/std — no hardcoded percentages. Two users triggering the same alert have different numeric thresholds.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2940" y="28757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" y="28757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761488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do you know the model is actually good?”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3127248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is backtested with a naive baseline on the same held-out data — forecaster beats naive by 27.3%, overspend detector by 12 F1 points.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2940" y="399135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" y="39913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877056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“Does this scale to real users?”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4242816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loaders for 3 real datasets (up to 4.5M rows, MIT-licensed) are already wired in `data_sources.py`; synthetic data was a deliberate first step for guaranteed personalization signal.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2940" y="510692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" y="51069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992624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“Is this production-ready?”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5358384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standalone research repo (`spendsmart-ml`) by design — fully decoupled from the app, with a documented integration path once real-data validation is complete.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SpendSmart-ML  |  Personalized Spending Recommendation Engine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research repo to product feature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640080" cy="640080"/>
          </a:xfrm>
          <a:prstGeom prst="ellipse">
            <a:avLst/>
          </a:prstGeom>
          <a:solidFill>
            <a:srgbClr val="2ED9A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216712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real data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532888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the HuggingFace / Kaggle datasets already wired up for an honest, non-synthetic accuracy number.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246120"/>
            <a:ext cx="640080" cy="640080"/>
          </a:xfrm>
          <a:prstGeom prst="ellipse">
            <a:avLst/>
          </a:prstGeom>
          <a:solidFill>
            <a:srgbClr val="2ED9A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91640" y="321868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into SpendSmart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3584448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trained model behind the existing AI-assistant endpoint — kept separate until validated.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297680"/>
            <a:ext cx="640080" cy="640080"/>
          </a:xfrm>
          <a:prstGeom prst="ellipse">
            <a:avLst/>
          </a:prstGeom>
          <a:solidFill>
            <a:srgbClr val="2ED9A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91640" y="427024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real impact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91640" y="4636008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whether personalized recommendations actually change spending behavior vs. the current rule-based fallback.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5806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spendsmart-ml  ·  standalone repo  ·  reports/metrics.json for full evaluation detail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2026-07-29T16:09:08Z</dcterms:created>
  <dcterms:modified xsi:type="dcterms:W3CDTF">2026-07-29T16:09:08Z</dcterms:modified>
</cp:coreProperties>
</file>