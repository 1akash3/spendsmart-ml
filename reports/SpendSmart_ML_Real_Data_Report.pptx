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2C39A"/>
                </a:solidFill>
                <a:latin typeface="Calibri"/>
              </a:rPr>
              <a:t>SPENDSMART-ML  ·  REAL-DATA MODEL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60704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Personalized Spending Recommender</a:t>
            </a:r>
          </a:p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Trained &amp; Benchmarked on Real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BFDFDF"/>
                </a:solidFill>
                <a:latin typeface="Calibri"/>
              </a:rPr>
              <a:t>Every model trained on real public datasets — measured on less vs. more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029200"/>
            <a:ext cx="2651760" cy="1234440"/>
          </a:xfrm>
          <a:prstGeom prst="roundRect">
            <a:avLst>
              <a:gd name="adj" fmla="val 6000"/>
            </a:avLst>
          </a:prstGeom>
          <a:solidFill>
            <a:srgbClr val="0B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5138928"/>
            <a:ext cx="24323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2C39A"/>
                </a:solidFill>
                <a:latin typeface="Calibri"/>
              </a:rPr>
              <a:t>1,308,352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788152"/>
            <a:ext cx="2432304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6F"/>
                </a:solidFill>
                <a:latin typeface="Calibri"/>
              </a:rPr>
              <a:t>real transactions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5029200"/>
            <a:ext cx="2651760" cy="1234440"/>
          </a:xfrm>
          <a:prstGeom prst="roundRect">
            <a:avLst>
              <a:gd name="adj" fmla="val 6000"/>
            </a:avLst>
          </a:prstGeom>
          <a:solidFill>
            <a:srgbClr val="0B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5138928"/>
            <a:ext cx="24323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2C39A"/>
                </a:solidFill>
                <a:latin typeface="Calibri"/>
              </a:rPr>
              <a:t>1,927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5788152"/>
            <a:ext cx="2432304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6F"/>
                </a:solidFill>
                <a:latin typeface="Calibri"/>
              </a:rPr>
              <a:t>real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029200"/>
            <a:ext cx="2651760" cy="1234440"/>
          </a:xfrm>
          <a:prstGeom prst="roundRect">
            <a:avLst>
              <a:gd name="adj" fmla="val 6000"/>
            </a:avLst>
          </a:prstGeom>
          <a:solidFill>
            <a:srgbClr val="0B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5138928"/>
            <a:ext cx="24323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2C39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5788152"/>
            <a:ext cx="2432304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6F"/>
                </a:solidFill>
                <a:latin typeface="Calibri"/>
              </a:rPr>
              <a:t>public datasets combined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5029200"/>
            <a:ext cx="2194560" cy="1234440"/>
          </a:xfrm>
          <a:prstGeom prst="roundRect">
            <a:avLst>
              <a:gd name="adj" fmla="val 6000"/>
            </a:avLst>
          </a:prstGeom>
          <a:solidFill>
            <a:srgbClr val="0B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5138928"/>
            <a:ext cx="19751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2C39A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5788152"/>
            <a:ext cx="1975104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6F"/>
                </a:solidFill>
                <a:latin typeface="Calibri"/>
              </a:rPr>
              <a:t>ML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Calibri"/>
              </a:rPr>
              <a:t>DATA &amp;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22B2E"/>
                </a:solidFill>
                <a:latin typeface="Cambria"/>
              </a:rPr>
              <a:t>Real datasets, honest coverage, a like-for-like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35661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28090"/>
                </a:solidFill>
                <a:latin typeface="Calibri"/>
              </a:rPr>
              <a:t>Credit-card transactions (Kaggle)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920240"/>
            <a:ext cx="6949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B2E"/>
                </a:solidFill>
                <a:latin typeface="Calibri"/>
              </a:rPr>
              <a:t>1.30M txns · 983 users · 18 months — the rich per-category expense backbone.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24912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16352"/>
            <a:ext cx="35661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28090"/>
                </a:solidFill>
                <a:latin typeface="Calibri"/>
              </a:rPr>
              <a:t>Personal-finance tracker (Kaggle)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816352"/>
            <a:ext cx="6949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B2E"/>
                </a:solidFill>
                <a:latin typeface="Calibri"/>
              </a:rPr>
              <a:t>944 users — adds real monthly income, housing, financial (loan/investment) &amp; utilities.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21024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12463"/>
            <a:ext cx="35661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28090"/>
                </a:solidFill>
                <a:latin typeface="Calibri"/>
              </a:rPr>
              <a:t>Coverage 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712463"/>
            <a:ext cx="6949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B2E"/>
                </a:solidFill>
                <a:latin typeface="Calibri"/>
              </a:rPr>
              <a:t>Combined panel now carries income + all expense categories (subscriptions stay label-only).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17136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08575"/>
            <a:ext cx="35661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28090"/>
                </a:solidFill>
                <a:latin typeface="Calibri"/>
              </a:rPr>
              <a:t>Metric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608575"/>
            <a:ext cx="6949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B2E"/>
                </a:solidFill>
                <a:latin typeface="Calibri"/>
              </a:rPr>
              <a:t>Forecaster reported with WAPE (robust to $0-spend months); MAPE dropped as misleading.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13248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504688"/>
            <a:ext cx="35661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28090"/>
                </a:solidFill>
                <a:latin typeface="Calibri"/>
              </a:rPr>
              <a:t>Experiment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5504688"/>
            <a:ext cx="6949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B2E"/>
                </a:solidFill>
                <a:latin typeface="Calibri"/>
              </a:rPr>
              <a:t>Each model trained on a SMALL slice vs the FULL data to show the effect of more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Calibri"/>
              </a:rPr>
              <a:t>MODEL 1 · CATEGORIZER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22B2E"/>
                </a:solidFill>
                <a:latin typeface="Cambria"/>
              </a:rPr>
              <a:t>Transaction categorizer (TF-IDF → Logistic Regression)</a:t>
            </a:r>
          </a:p>
        </p:txBody>
      </p:sp>
      <p:pic>
        <p:nvPicPr>
          <p:cNvPr id="5" name="Picture 4" descr="chart_categor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400800" cy="41295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78308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B6F"/>
                </a:solidFill>
                <a:latin typeface="Calibri"/>
              </a:rPr>
              <a:t>LESS DATA  →  MORE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240280"/>
            <a:ext cx="4297680" cy="105156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7" y="2350008"/>
            <a:ext cx="407822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28090"/>
                </a:solidFill>
                <a:latin typeface="Calibri"/>
              </a:rPr>
              <a:t>0.74  →  0.97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7" y="2999232"/>
            <a:ext cx="4078224" cy="22859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6F"/>
                </a:solidFill>
                <a:latin typeface="Calibri"/>
              </a:rPr>
              <a:t>macro-F1  (2k → 121k rows)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429000"/>
            <a:ext cx="4297680" cy="105156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3538728"/>
            <a:ext cx="407822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0A896"/>
                </a:solidFill>
                <a:latin typeface="Calibri"/>
              </a:rPr>
              <a:t>90.4%  →  99.2%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4187952"/>
            <a:ext cx="4078224" cy="22859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6F"/>
                </a:solidFill>
                <a:latin typeface="Calibri"/>
              </a:rPr>
              <a:t>accuracy on held-out real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636007"/>
            <a:ext cx="4297680" cy="137160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4764024"/>
            <a:ext cx="3931920" cy="1143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B2E"/>
                </a:solidFill>
                <a:latin typeface="Calibri"/>
              </a:rPr>
              <a:t>More labeled data barely moves top-line accuracy but sharply improves macro-F1 — the model gets much better on the rarer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Calibri"/>
              </a:rPr>
              <a:t>MODEL 2 · FORECASTER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22B2E"/>
                </a:solidFill>
                <a:latin typeface="Cambria"/>
              </a:rPr>
              <a:t>Personalized forecaster (per-category gradient boosting)</a:t>
            </a:r>
          </a:p>
        </p:txBody>
      </p:sp>
      <p:pic>
        <p:nvPicPr>
          <p:cNvPr id="5" name="Picture 4" descr="chart_forec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400800" cy="41295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78308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B6F"/>
                </a:solidFill>
                <a:latin typeface="Calibri"/>
              </a:rPr>
              <a:t>LESS DATA  →  MORE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240280"/>
            <a:ext cx="4297680" cy="105156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7" y="2350008"/>
            <a:ext cx="407822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28090"/>
                </a:solidFill>
                <a:latin typeface="Calibri"/>
              </a:rPr>
              <a:t>$283  →  $271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7" y="2999232"/>
            <a:ext cx="4078224" cy="22859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6F"/>
                </a:solidFill>
                <a:latin typeface="Calibri"/>
              </a:rPr>
              <a:t>MAE  (lower is better)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429000"/>
            <a:ext cx="4297680" cy="105156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3538728"/>
            <a:ext cx="407822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0A896"/>
                </a:solidFill>
                <a:latin typeface="Calibri"/>
              </a:rPr>
              <a:t>+4%  →  +7%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4187952"/>
            <a:ext cx="4078224" cy="22859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6F"/>
                </a:solidFill>
                <a:latin typeface="Calibri"/>
              </a:rPr>
              <a:t>skill vs. naive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636007"/>
            <a:ext cx="4297680" cy="137160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4764024"/>
            <a:ext cx="3931920" cy="1143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B2E"/>
                </a:solidFill>
                <a:latin typeface="Calibri"/>
              </a:rPr>
              <a:t>With more users the personalized model pulls further ahead of the naive 'same-as-last-month' baseline. Reported as WAPE, robust to $0 months.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Calibri"/>
              </a:rPr>
              <a:t>MODEL 3 ·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22B2E"/>
                </a:solidFill>
                <a:latin typeface="Cambria"/>
              </a:rPr>
              <a:t>User segmentation (KMeans cohorts)</a:t>
            </a:r>
          </a:p>
        </p:txBody>
      </p:sp>
      <p:pic>
        <p:nvPicPr>
          <p:cNvPr id="5" name="Picture 4" descr="chart_se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400800" cy="41295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78308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B6F"/>
                </a:solidFill>
                <a:latin typeface="Calibri"/>
              </a:rPr>
              <a:t>LESS DATA  →  MORE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240280"/>
            <a:ext cx="4297680" cy="105156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7" y="2350008"/>
            <a:ext cx="407822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28090"/>
                </a:solidFill>
                <a:latin typeface="Calibri"/>
              </a:rPr>
              <a:t>0.30  →  0.23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7" y="2999232"/>
            <a:ext cx="4078224" cy="22859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6F"/>
                </a:solidFill>
                <a:latin typeface="Calibri"/>
              </a:rPr>
              <a:t>silhouette (cluster quality)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429000"/>
            <a:ext cx="4297680" cy="105156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3538728"/>
            <a:ext cx="407822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0A896"/>
                </a:solidFill>
                <a:latin typeface="Calibri"/>
              </a:rPr>
              <a:t>1,927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4187952"/>
            <a:ext cx="4078224" cy="22859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6F"/>
                </a:solidFill>
                <a:latin typeface="Calibri"/>
              </a:rPr>
              <a:t>real users clustered into 6 cohorts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636007"/>
            <a:ext cx="4297680" cy="137160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4764024"/>
            <a:ext cx="3931920" cy="1143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B2E"/>
                </a:solidFill>
                <a:latin typeface="Calibri"/>
              </a:rPr>
              <a:t>Silhouette dips slightly as more — and more varied — real users join: expected when the population grows heterogeneous. Cohorts stay clearly separated (&gt;0.2) and peer comparisons fair.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8090"/>
                </a:solidFill>
                <a:latin typeface="Calibri"/>
              </a:rPr>
              <a:t>MODEL 4 · OVERSPEND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222B2E"/>
                </a:solidFill>
                <a:latin typeface="Cambria"/>
              </a:rPr>
              <a:t>Overspend detector (forecast-driven alerts)</a:t>
            </a:r>
          </a:p>
        </p:txBody>
      </p:sp>
      <p:pic>
        <p:nvPicPr>
          <p:cNvPr id="5" name="Picture 4" descr="chart_oversp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400800" cy="41295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78308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B6F"/>
                </a:solidFill>
                <a:latin typeface="Calibri"/>
              </a:rPr>
              <a:t>LESS DATA  →  MORE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240280"/>
            <a:ext cx="4297680" cy="105156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7" y="2350008"/>
            <a:ext cx="407822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28090"/>
                </a:solidFill>
                <a:latin typeface="Calibri"/>
              </a:rPr>
              <a:t>0.42  →  0.43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7" y="2999232"/>
            <a:ext cx="4078224" cy="22859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6F"/>
                </a:solidFill>
                <a:latin typeface="Calibri"/>
              </a:rPr>
              <a:t>F1  (model)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429000"/>
            <a:ext cx="4297680" cy="1051560"/>
          </a:xfrm>
          <a:prstGeom prst="roundRect">
            <a:avLst>
              <a:gd name="adj" fmla="val 6000"/>
            </a:avLst>
          </a:prstGeom>
          <a:solidFill>
            <a:srgbClr val="E7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3538728"/>
            <a:ext cx="407822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14B3B"/>
                </a:solidFill>
                <a:latin typeface="Calibri"/>
              </a:rPr>
              <a:t>0.24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4187952"/>
            <a:ext cx="4078224" cy="22859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6F"/>
                </a:solidFill>
                <a:latin typeface="Calibri"/>
              </a:rPr>
              <a:t>naive baseline F1 at full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636007"/>
            <a:ext cx="4297680" cy="137160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4764024"/>
            <a:ext cx="3931920" cy="1143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B2E"/>
                </a:solidFill>
                <a:latin typeface="Calibri"/>
              </a:rPr>
              <a:t>The detector consistently beats the naive baseline; more data lifts F1 and keeps it well above the naive 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2C39A"/>
                </a:solidFill>
                <a:latin typeface="Calibri"/>
              </a:rPr>
              <a:t>FINAL · COMBINED MODEL (ALL REAL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The full pipeline on every real dataset</a:t>
            </a:r>
          </a:p>
        </p:txBody>
      </p:sp>
      <p:pic>
        <p:nvPicPr>
          <p:cNvPr id="5" name="Picture 4" descr="chart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6583680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60920" y="1874519"/>
            <a:ext cx="2103120" cy="1051560"/>
          </a:xfrm>
          <a:prstGeom prst="roundRect">
            <a:avLst>
              <a:gd name="adj" fmla="val 6000"/>
            </a:avLst>
          </a:prstGeom>
          <a:solidFill>
            <a:srgbClr val="0B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70648" y="1984248"/>
            <a:ext cx="1883663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2C39A"/>
                </a:solidFill>
                <a:latin typeface="Calibri"/>
              </a:rPr>
              <a:t>99.2%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0648" y="2532887"/>
            <a:ext cx="1883663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FE7E7"/>
                </a:solidFill>
                <a:latin typeface="Calibri"/>
              </a:rPr>
              <a:t>categorizer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1874519"/>
            <a:ext cx="2103120" cy="1051560"/>
          </a:xfrm>
          <a:prstGeom prst="roundRect">
            <a:avLst>
              <a:gd name="adj" fmla="val 6000"/>
            </a:avLst>
          </a:prstGeom>
          <a:solidFill>
            <a:srgbClr val="0B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65208" y="1984248"/>
            <a:ext cx="1883663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2C39A"/>
                </a:solidFill>
                <a:latin typeface="Calibri"/>
              </a:rPr>
              <a:t>0.23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5208" y="2532887"/>
            <a:ext cx="1883663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FE7E7"/>
                </a:solidFill>
                <a:latin typeface="Calibri"/>
              </a:rPr>
              <a:t>segmentation silhouette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017520"/>
            <a:ext cx="2103120" cy="1051560"/>
          </a:xfrm>
          <a:prstGeom prst="roundRect">
            <a:avLst>
              <a:gd name="adj" fmla="val 6000"/>
            </a:avLst>
          </a:prstGeom>
          <a:solidFill>
            <a:srgbClr val="0B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0648" y="3127248"/>
            <a:ext cx="1883663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2C39A"/>
                </a:solidFill>
                <a:latin typeface="Calibri"/>
              </a:rPr>
              <a:t>$271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0648" y="3675887"/>
            <a:ext cx="1883663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FE7E7"/>
                </a:solidFill>
                <a:latin typeface="Calibri"/>
              </a:rPr>
              <a:t>forecaster MAE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5480" y="3017520"/>
            <a:ext cx="2103120" cy="1051560"/>
          </a:xfrm>
          <a:prstGeom prst="roundRect">
            <a:avLst>
              <a:gd name="adj" fmla="val 6000"/>
            </a:avLst>
          </a:prstGeom>
          <a:solidFill>
            <a:srgbClr val="0B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65208" y="3127248"/>
            <a:ext cx="1883663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2C39A"/>
                </a:solidFill>
                <a:latin typeface="Calibri"/>
              </a:rPr>
              <a:t>0.43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5208" y="3675887"/>
            <a:ext cx="1883663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FE7E7"/>
                </a:solidFill>
                <a:latin typeface="Calibri"/>
              </a:rPr>
              <a:t>overspend 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20624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C39A"/>
                </a:solidFill>
                <a:latin typeface="Calibri"/>
              </a:rPr>
              <a:t>LIVE PERSONALIZED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4553712"/>
            <a:ext cx="429768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1. [overspend] Groceries trending above your usual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2. [overspend] Miscellaneous trending above your usual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FC7C7"/>
                </a:solidFill>
                <a:latin typeface="Calibri"/>
              </a:rPr>
              <a:t>All figures from real public data · income now real for 944 users (median $4,008/mo, 23% saved) · subscriptions remain label-only.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